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1" r:id="rId1"/>
  </p:sldMasterIdLst>
  <p:notesMasterIdLst>
    <p:notesMasterId r:id="rId9"/>
  </p:notesMasterIdLst>
  <p:handoutMasterIdLst>
    <p:handoutMasterId r:id="rId10"/>
  </p:handoutMasterIdLst>
  <p:sldIdLst>
    <p:sldId id="595" r:id="rId2"/>
    <p:sldId id="596" r:id="rId3"/>
    <p:sldId id="597" r:id="rId4"/>
    <p:sldId id="598" r:id="rId5"/>
    <p:sldId id="599" r:id="rId6"/>
    <p:sldId id="600" r:id="rId7"/>
    <p:sldId id="480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e Bashta" initials="JB" lastIdx="5" clrIdx="0">
    <p:extLst>
      <p:ext uri="{19B8F6BF-5375-455C-9EA6-DF929625EA0E}">
        <p15:presenceInfo xmlns:p15="http://schemas.microsoft.com/office/powerpoint/2012/main" userId="5eda73a45141f5a9" providerId="Windows Live"/>
      </p:ext>
    </p:extLst>
  </p:cmAuthor>
  <p:cmAuthor id="2" name="Thilak" initials="T" lastIdx="7" clrIdx="1">
    <p:extLst>
      <p:ext uri="{19B8F6BF-5375-455C-9EA6-DF929625EA0E}">
        <p15:presenceInfo xmlns:p15="http://schemas.microsoft.com/office/powerpoint/2012/main" userId="Thilak" providerId="None"/>
      </p:ext>
    </p:extLst>
  </p:cmAuthor>
  <p:cmAuthor id="3" name="dino bravin" initials="db" lastIdx="31" clrIdx="2">
    <p:extLst>
      <p:ext uri="{19B8F6BF-5375-455C-9EA6-DF929625EA0E}">
        <p15:presenceInfo xmlns:p15="http://schemas.microsoft.com/office/powerpoint/2012/main" userId="6732b4308b23d3c4" providerId="Windows Live"/>
      </p:ext>
    </p:extLst>
  </p:cmAuthor>
  <p:cmAuthor id="4" name="Thilak Laksiri" initials="TL" lastIdx="10" clrIdx="3">
    <p:extLst>
      <p:ext uri="{19B8F6BF-5375-455C-9EA6-DF929625EA0E}">
        <p15:presenceInfo xmlns:p15="http://schemas.microsoft.com/office/powerpoint/2012/main" userId="3453c10aa9b03e75" providerId="Windows Live"/>
      </p:ext>
    </p:extLst>
  </p:cmAuthor>
  <p:cmAuthor id="5" name="Omid" initials="O" lastIdx="2" clrIdx="4">
    <p:extLst>
      <p:ext uri="{19B8F6BF-5375-455C-9EA6-DF929625EA0E}">
        <p15:presenceInfo xmlns:p15="http://schemas.microsoft.com/office/powerpoint/2012/main" userId="Om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B61"/>
    <a:srgbClr val="CC99FF"/>
    <a:srgbClr val="66FF33"/>
    <a:srgbClr val="FFFFFF"/>
    <a:srgbClr val="C5C5C5"/>
    <a:srgbClr val="797979"/>
    <a:srgbClr val="2194FF"/>
    <a:srgbClr val="0067C5"/>
    <a:srgbClr val="AD9F12"/>
    <a:srgbClr val="004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61" autoAdjust="0"/>
  </p:normalViewPr>
  <p:slideViewPr>
    <p:cSldViewPr snapToGrid="0" snapToObjects="1">
      <p:cViewPr>
        <p:scale>
          <a:sx n="125" d="100"/>
          <a:sy n="125" d="100"/>
        </p:scale>
        <p:origin x="254" y="17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5" d="100"/>
        <a:sy n="135" d="100"/>
      </p:scale>
      <p:origin x="0" y="0"/>
    </p:cViewPr>
  </p:sorterViewPr>
  <p:notesViewPr>
    <p:cSldViewPr snapToGrid="0" snapToObjects="1" showGuides="1">
      <p:cViewPr varScale="1">
        <p:scale>
          <a:sx n="73" d="100"/>
          <a:sy n="73" d="100"/>
        </p:scale>
        <p:origin x="405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8AAB2AD-D4DB-E248-A892-AAF8EBA51D56}" type="datetimeFigureOut">
              <a:rPr lang="en-US"/>
              <a:pPr>
                <a:defRPr/>
              </a:pPr>
              <a:t>8/9/2020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726FAEC-A31C-F348-BCB8-AA237E60E2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779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FBAAC04-016F-9C41-AC76-85AB1232E103}" type="datetimeFigureOut">
              <a:rPr lang="en-US"/>
              <a:pPr>
                <a:defRPr/>
              </a:pPr>
              <a:t>8/9/2020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794F344-94C8-4E41-B262-FCC2288FA6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01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4F344-94C8-4E41-B262-FCC2288FA662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61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1" y="4941232"/>
            <a:ext cx="9144000" cy="2022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1" y="4866915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941231"/>
            <a:ext cx="18542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941231"/>
            <a:ext cx="36171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941231"/>
            <a:ext cx="984019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3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4920343"/>
            <a:ext cx="1854203" cy="198340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4920343"/>
            <a:ext cx="3617103" cy="1983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4920343"/>
            <a:ext cx="984019" cy="19834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605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1" y="4941232"/>
            <a:ext cx="9144000" cy="2022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1" y="4866915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941231"/>
            <a:ext cx="18542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941231"/>
            <a:ext cx="36171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941231"/>
            <a:ext cx="984019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489200" y="214953"/>
            <a:ext cx="5877560" cy="61236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037771"/>
            <a:ext cx="3703320" cy="3364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037771"/>
            <a:ext cx="3703320" cy="3364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8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677164" y="214953"/>
            <a:ext cx="5689596" cy="61961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957943"/>
            <a:ext cx="3703320" cy="42659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384539"/>
            <a:ext cx="3703320" cy="3085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957943"/>
            <a:ext cx="3703320" cy="45163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70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4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37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3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75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02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" y="4941232"/>
            <a:ext cx="9144000" cy="2022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 userDrawn="1"/>
        </p:nvSpPr>
        <p:spPr>
          <a:xfrm>
            <a:off x="1" y="4866915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941231"/>
            <a:ext cx="18542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941231"/>
            <a:ext cx="36171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941231"/>
            <a:ext cx="984019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42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56700" cy="51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3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2750591" y="1915885"/>
            <a:ext cx="3655518" cy="104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6742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00150"/>
            <a:ext cx="8153400" cy="337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18229" y="115446"/>
            <a:ext cx="6513206" cy="652463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27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53171" y="1192174"/>
            <a:ext cx="4342629" cy="37088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84484" y="1192175"/>
            <a:ext cx="4251249" cy="3708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888343" y="115446"/>
            <a:ext cx="6143092" cy="652463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1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941232"/>
            <a:ext cx="9144000" cy="2022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4866915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7164" y="214953"/>
            <a:ext cx="5689596" cy="563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37771"/>
            <a:ext cx="7543800" cy="33640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941231"/>
            <a:ext cx="18542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941231"/>
            <a:ext cx="3617103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941231"/>
            <a:ext cx="984019" cy="177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22961" y="940526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598034" y="271795"/>
            <a:ext cx="1676400" cy="478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91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  <p:sldLayoutId id="2147484145" r:id="rId12"/>
    <p:sldLayoutId id="2147484082" r:id="rId13"/>
    <p:sldLayoutId id="2147484083" r:id="rId14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49572-5F5F-405B-BF2A-C1A689DA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/>
              <a:t>5. Discuss the relationships between the fields of </a:t>
            </a:r>
            <a:r>
              <a:rPr lang="en-US" sz="1800" b="1" dirty="0" err="1"/>
              <a:t>df_stats</a:t>
            </a:r>
            <a:r>
              <a:rPr lang="en-US" sz="1800" b="1" dirty="0"/>
              <a:t>. For example, 2nd</a:t>
            </a:r>
          </a:p>
          <a:p>
            <a:r>
              <a:rPr lang="en-US" sz="1800" b="1" dirty="0"/>
              <a:t>quartile and the median are the same.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AU" dirty="0"/>
              <a:t> 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The </a:t>
            </a:r>
            <a:r>
              <a:rPr lang="en-US" b="1" i="0" dirty="0">
                <a:solidFill>
                  <a:srgbClr val="111111"/>
                </a:solidFill>
                <a:effectLst/>
                <a:latin typeface="SourceSansPro"/>
              </a:rPr>
              <a:t>quartile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 measures the spread of values above and below the mean by dividing the distribution into four groups.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A quartile divides data into three points – a lower quartile, median, and upper quartile – to form four groups of the data set.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Quartiles are used to calculate the interquartile range, which is a measure of variability around the median.</a:t>
            </a:r>
          </a:p>
          <a:p>
            <a:endParaRPr lang="en-AU" dirty="0"/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The second quartile, Q2, is also the median.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39DE4B-5478-4B8F-9AA0-D99A13BA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MODULE - 2</a:t>
            </a:r>
          </a:p>
        </p:txBody>
      </p:sp>
    </p:spTree>
    <p:extLst>
      <p:ext uri="{BB962C8B-B14F-4D97-AF65-F5344CB8AC3E}">
        <p14:creationId xmlns:p14="http://schemas.microsoft.com/office/powerpoint/2010/main" val="217197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4D0B8-DCFB-436F-A8AC-47CBBC04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037771"/>
            <a:ext cx="6352032" cy="241866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Let X={x1,x2,…,</a:t>
            </a:r>
            <a:r>
              <a:rPr lang="en-US" b="0" i="0" dirty="0" err="1">
                <a:solidFill>
                  <a:srgbClr val="282829"/>
                </a:solidFill>
                <a:effectLst/>
                <a:latin typeface="-apple-system"/>
              </a:rPr>
              <a:t>xn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}. The quartiles are usually defined as minimum, 1st, 2nd, 3rd, or max. The minimum is the lowest number of X. The 1st quartile is the 25th% of X. The 2nd quartile is the 50th% of X. The 3rd quartile is the 75th% of X.</a:t>
            </a:r>
            <a:endParaRPr lang="en-US" b="0" i="0" dirty="0">
              <a:solidFill>
                <a:srgbClr val="111111"/>
              </a:solidFill>
              <a:effectLst/>
              <a:latin typeface="SourceSansPro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First quartile: the lowest 25% of numbers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Second quartile: between 25.1% and 50% (up to the median)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Third quartile: 51% to 75% (above the median)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Fourth quartile: the highest 25% of numbers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6050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C2F0C-4D8F-474A-918B-C1A529DB7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b="1" dirty="0"/>
              <a:t>6. </a:t>
            </a:r>
            <a:r>
              <a:rPr lang="en-US" sz="2000" b="1" dirty="0"/>
              <a:t>Discuss how the columns of df_stats are useful in data analysis.</a:t>
            </a:r>
          </a:p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For numeric data, the result’s index will include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mean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std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min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max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as well as lower,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50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and upper percentiles. By default the lower percentile is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25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and the upper percentile is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75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. 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50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percentile is the same as the median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</a:t>
            </a:r>
          </a:p>
          <a:p>
            <a:pPr algn="l"/>
            <a:r>
              <a:rPr lang="en-US" sz="1600" b="1" i="0" dirty="0">
                <a:solidFill>
                  <a:srgbClr val="262626"/>
                </a:solidFill>
                <a:effectLst/>
                <a:latin typeface="Roboto"/>
              </a:rPr>
              <a:t>mean:</a:t>
            </a:r>
            <a:endParaRPr lang="en-US" sz="1600" b="0" i="0" dirty="0">
              <a:solidFill>
                <a:srgbClr val="262626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62626"/>
                </a:solidFill>
                <a:effectLst/>
                <a:latin typeface="Roboto"/>
              </a:rPr>
              <a:t>Mean (Average) of all numeric values in a column (or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62626"/>
                </a:solidFill>
                <a:effectLst/>
                <a:latin typeface="Roboto"/>
              </a:rPr>
              <a:t>Computed only for numeric type of columns (or series)</a:t>
            </a:r>
          </a:p>
          <a:p>
            <a:pPr algn="l"/>
            <a:r>
              <a:rPr lang="en-US" sz="1600" b="1" i="0" dirty="0">
                <a:solidFill>
                  <a:srgbClr val="262626"/>
                </a:solidFill>
                <a:effectLst/>
                <a:latin typeface="Roboto"/>
              </a:rPr>
              <a:t>std:</a:t>
            </a:r>
            <a:endParaRPr lang="en-US" sz="1600" b="0" i="0" dirty="0">
              <a:solidFill>
                <a:srgbClr val="262626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62626"/>
                </a:solidFill>
                <a:effectLst/>
                <a:latin typeface="Roboto"/>
              </a:rPr>
              <a:t>Standard Deviation of all numeric values in a column (or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62626"/>
                </a:solidFill>
                <a:effectLst/>
                <a:latin typeface="Roboto"/>
              </a:rPr>
              <a:t>Computed only for numeric type of columns (or series)</a:t>
            </a:r>
          </a:p>
          <a:p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000" b="1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24880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1C8A-6B21-4C28-9789-9769C210B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400" b="1" i="0" dirty="0">
                <a:solidFill>
                  <a:srgbClr val="262626"/>
                </a:solidFill>
                <a:effectLst/>
                <a:latin typeface="Roboto"/>
              </a:rPr>
              <a:t>min:</a:t>
            </a:r>
            <a:endParaRPr lang="en-US" sz="1400" b="0" i="0" dirty="0">
              <a:solidFill>
                <a:srgbClr val="262626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62626"/>
                </a:solidFill>
                <a:effectLst/>
                <a:latin typeface="Roboto"/>
              </a:rPr>
              <a:t>Minimum value of all numeric values in a column (or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62626"/>
                </a:solidFill>
                <a:effectLst/>
                <a:latin typeface="Roboto"/>
              </a:rPr>
              <a:t>Computed only for numeric type of columns (or series)</a:t>
            </a:r>
          </a:p>
          <a:p>
            <a:pPr algn="l"/>
            <a:r>
              <a:rPr lang="en-US" sz="1400" b="1" i="0" dirty="0">
                <a:solidFill>
                  <a:srgbClr val="262626"/>
                </a:solidFill>
                <a:effectLst/>
                <a:latin typeface="Roboto"/>
              </a:rPr>
              <a:t>25%, 50%, 75%:</a:t>
            </a:r>
            <a:endParaRPr lang="en-US" sz="1400" b="0" i="0" dirty="0">
              <a:solidFill>
                <a:srgbClr val="262626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62626"/>
                </a:solidFill>
                <a:effectLst/>
                <a:latin typeface="Roboto"/>
              </a:rPr>
              <a:t>Given percentile values (quantile 1, 2 and 3 respectively) of all numeric values in a column (or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62626"/>
                </a:solidFill>
                <a:effectLst/>
                <a:latin typeface="Roboto"/>
              </a:rPr>
              <a:t>Computed only for numeric type of columns (or series)</a:t>
            </a:r>
          </a:p>
          <a:p>
            <a:pPr algn="l"/>
            <a:r>
              <a:rPr lang="en-US" sz="1400" b="1" i="0" dirty="0">
                <a:solidFill>
                  <a:srgbClr val="262626"/>
                </a:solidFill>
                <a:effectLst/>
                <a:latin typeface="Roboto"/>
              </a:rPr>
              <a:t>max:</a:t>
            </a:r>
            <a:endParaRPr lang="en-US" sz="1400" b="0" i="0" dirty="0">
              <a:solidFill>
                <a:srgbClr val="262626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62626"/>
                </a:solidFill>
                <a:effectLst/>
                <a:latin typeface="Roboto"/>
              </a:rPr>
              <a:t>Maximum value of all numeric values in a column (or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62626"/>
                </a:solidFill>
                <a:effectLst/>
                <a:latin typeface="Roboto"/>
              </a:rPr>
              <a:t>Computed only for numeric type of columns (or series)</a:t>
            </a:r>
          </a:p>
        </p:txBody>
      </p:sp>
    </p:spTree>
    <p:extLst>
      <p:ext uri="{BB962C8B-B14F-4D97-AF65-F5344CB8AC3E}">
        <p14:creationId xmlns:p14="http://schemas.microsoft.com/office/powerpoint/2010/main" val="176332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8498-AFD0-4514-98E0-462E32515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Correlation Between 2 Variables : </a:t>
            </a:r>
          </a:p>
          <a:p>
            <a:pPr algn="l"/>
            <a:r>
              <a:rPr lang="en-US" sz="1900" i="0" dirty="0">
                <a:solidFill>
                  <a:srgbClr val="111111"/>
                </a:solidFill>
                <a:effectLst/>
                <a:latin typeface="+mj-lt"/>
              </a:rPr>
              <a:t>The correlation coefficient is bound between -1 and 1 and tells you the linear relationship between these two variables. A coefficient close to 1 means a strong and positive </a:t>
            </a:r>
            <a:r>
              <a:rPr lang="en-US" sz="1900" i="0" dirty="0" err="1">
                <a:solidFill>
                  <a:srgbClr val="111111"/>
                </a:solidFill>
                <a:effectLst/>
                <a:latin typeface="+mj-lt"/>
              </a:rPr>
              <a:t>associantion</a:t>
            </a:r>
            <a:r>
              <a:rPr lang="en-US" sz="1900" i="0" dirty="0">
                <a:solidFill>
                  <a:srgbClr val="111111"/>
                </a:solidFill>
                <a:effectLst/>
                <a:latin typeface="+mj-lt"/>
              </a:rPr>
              <a:t> between the two variables (when one of them grows, the other does, also, and when one of them decreases, the other one does the same).</a:t>
            </a:r>
          </a:p>
          <a:p>
            <a:pPr algn="l"/>
            <a:r>
              <a:rPr lang="en-US" sz="1900" i="0" dirty="0">
                <a:solidFill>
                  <a:srgbClr val="111111"/>
                </a:solidFill>
                <a:effectLst/>
                <a:latin typeface="+mj-lt"/>
              </a:rPr>
              <a:t>A coefficient close to -1 means strong negative association between the two variables, this is, observations with a large value in one of the variables tend to have a small value in the other variable or vice-versa.</a:t>
            </a:r>
          </a:p>
          <a:p>
            <a:pPr algn="l"/>
            <a:r>
              <a:rPr lang="en-US" sz="1900" i="0" dirty="0">
                <a:solidFill>
                  <a:srgbClr val="111111"/>
                </a:solidFill>
                <a:effectLst/>
                <a:latin typeface="+mj-lt"/>
              </a:rPr>
              <a:t>A </a:t>
            </a:r>
            <a:r>
              <a:rPr lang="en-US" sz="1900" i="0" dirty="0" err="1">
                <a:solidFill>
                  <a:srgbClr val="111111"/>
                </a:solidFill>
                <a:effectLst/>
                <a:latin typeface="+mj-lt"/>
              </a:rPr>
              <a:t>coeffcient</a:t>
            </a:r>
            <a:r>
              <a:rPr lang="en-US" sz="1900" i="0" dirty="0">
                <a:solidFill>
                  <a:srgbClr val="111111"/>
                </a:solidFill>
                <a:effectLst/>
                <a:latin typeface="+mj-lt"/>
              </a:rPr>
              <a:t> close to 0 means no linear relation between the two variables.</a:t>
            </a:r>
          </a:p>
          <a:p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2274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2C20-5F35-4C54-993C-F469008BC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Roboto"/>
              </a:rPr>
              <a:t>You must be careful with the following matters:</a:t>
            </a:r>
          </a:p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Roboto"/>
              </a:rPr>
              <a:t>1) Association does not mean necessarily a causal relation between both variables. For example, there might be a third variable you have not considered, and this third variable might be the explanation for the behavior of the other two.</a:t>
            </a:r>
          </a:p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Roboto"/>
              </a:rPr>
              <a:t>2) Even if there is a causal relationship between the variables, the correlation coefficient does not tell you which variable is the cause, and which is the effect.</a:t>
            </a:r>
          </a:p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Roboto"/>
              </a:rPr>
              <a:t>3) If the coefficient is close to 0, it does not necessarily mean that there is no relation between the two variables. It means there isn't a LINEAR relationship, but there might be another type of functional relationship (for example, quadratic or exponential).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496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527867" y="3572791"/>
            <a:ext cx="2540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chemeClr val="bg1"/>
                </a:solidFill>
                <a:highlight>
                  <a:srgbClr val="123B61"/>
                </a:highlight>
                <a:latin typeface="Walkway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27916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878886B-CA7E-4B41-B488-C79BD2A635DA}" vid="{00802207-7659-4A55-8BE6-965C189A80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Disca 1Page</Template>
  <TotalTime>214</TotalTime>
  <Words>692</Words>
  <Application>Microsoft Office PowerPoint</Application>
  <PresentationFormat>On-screen Show (16:9)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Lato</vt:lpstr>
      <vt:lpstr>Roboto</vt:lpstr>
      <vt:lpstr>SFMono-Regular</vt:lpstr>
      <vt:lpstr>SourceSansPro</vt:lpstr>
      <vt:lpstr>Walkway Bold</vt:lpstr>
      <vt:lpstr>Retrospect</vt:lpstr>
      <vt:lpstr>MODULE - 2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Axicor Pty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- 2</dc:title>
  <dc:subject/>
  <dc:creator>AKASH PANDEY</dc:creator>
  <cp:keywords/>
  <dc:description/>
  <cp:lastModifiedBy>AKASH PANDEY</cp:lastModifiedBy>
  <cp:revision>4</cp:revision>
  <cp:lastPrinted>2012-10-14T07:11:33Z</cp:lastPrinted>
  <dcterms:created xsi:type="dcterms:W3CDTF">2020-08-09T11:00:37Z</dcterms:created>
  <dcterms:modified xsi:type="dcterms:W3CDTF">2020-08-09T14:35:33Z</dcterms:modified>
  <cp:category/>
</cp:coreProperties>
</file>